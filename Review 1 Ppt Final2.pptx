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61" r:id="rId2"/>
    <p:sldId id="265" r:id="rId3"/>
    <p:sldId id="271" r:id="rId4"/>
    <p:sldId id="266" r:id="rId5"/>
    <p:sldId id="268" r:id="rId6"/>
    <p:sldId id="267" r:id="rId7"/>
    <p:sldId id="269" r:id="rId8"/>
    <p:sldId id="278" r:id="rId9"/>
    <p:sldId id="279" r:id="rId10"/>
    <p:sldId id="280" r:id="rId11"/>
    <p:sldId id="272" r:id="rId12"/>
    <p:sldId id="274" r:id="rId13"/>
    <p:sldId id="277" r:id="rId14"/>
    <p:sldId id="273" r:id="rId15"/>
    <p:sldId id="26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3" d="100"/>
          <a:sy n="93" d="100"/>
        </p:scale>
        <p:origin x="53" y="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17-07-2026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17-07-2026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17-07-2026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17-07-2026</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FAB-946D-4828-BEB0-01F20722E9B4}"/>
              </a:ext>
            </a:extLst>
          </p:cNvPr>
          <p:cNvSpPr>
            <a:spLocks noGrp="1"/>
          </p:cNvSpPr>
          <p:nvPr>
            <p:ph type="title"/>
          </p:nvPr>
        </p:nvSpPr>
        <p:spPr>
          <a:xfrm>
            <a:off x="92597" y="97654"/>
            <a:ext cx="12014522" cy="6661960"/>
          </a:xfrm>
        </p:spPr>
        <p:txBody>
          <a:bodyPr>
            <a:normAutofit/>
          </a:bodyPr>
          <a:lstStyle/>
          <a:p>
            <a:pPr marR="441960">
              <a:spcBef>
                <a:spcPts val="445"/>
              </a:spcBef>
              <a:spcAft>
                <a:spcPts val="0"/>
              </a:spcAft>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Computer Science </a:t>
            </a:r>
            <a:r>
              <a:rPr lang="en-US" sz="1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&amp;</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Engineering</a:t>
            </a:r>
            <a:b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AI POWERED EMPLOYEE MANAGEMENT SYSTEM</a:t>
            </a:r>
            <a:br>
              <a:rPr lang="en-US"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BATCH  NO: 02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solidFill>
                <a:schemeClr val="tx1"/>
              </a:solidFill>
              <a:latin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tretch>
            <a:fillRect/>
          </a:stretch>
        </p:blipFill>
        <p:spPr>
          <a:xfrm>
            <a:off x="2707005" y="570229"/>
            <a:ext cx="6777990" cy="1145540"/>
          </a:xfrm>
          <a:prstGeom prst="rect">
            <a:avLst/>
          </a:prstGeom>
        </p:spPr>
      </p:pic>
      <p:sp>
        <p:nvSpPr>
          <p:cNvPr id="6" name="Text Box 6"/>
          <p:cNvSpPr txBox="1">
            <a:spLocks noChangeArrowheads="1"/>
          </p:cNvSpPr>
          <p:nvPr/>
        </p:nvSpPr>
        <p:spPr bwMode="auto">
          <a:xfrm>
            <a:off x="4564022" y="1429198"/>
            <a:ext cx="2753995" cy="3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7685158" y="906650"/>
            <a:ext cx="144018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
        <p:nvSpPr>
          <p:cNvPr id="3" name="TextBox 2">
            <a:extLst>
              <a:ext uri="{FF2B5EF4-FFF2-40B4-BE49-F238E27FC236}">
                <a16:creationId xmlns:a16="http://schemas.microsoft.com/office/drawing/2014/main" id="{4A361D89-181E-85B4-9590-F92C698425B8}"/>
              </a:ext>
            </a:extLst>
          </p:cNvPr>
          <p:cNvSpPr txBox="1"/>
          <p:nvPr/>
        </p:nvSpPr>
        <p:spPr>
          <a:xfrm>
            <a:off x="6661731" y="4695706"/>
            <a:ext cx="4664878" cy="1754326"/>
          </a:xfrm>
          <a:prstGeom prst="rect">
            <a:avLst/>
          </a:prstGeom>
          <a:noFill/>
        </p:spPr>
        <p:txBody>
          <a:bodyPr wrap="square" rtlCol="0">
            <a:spAutoFit/>
          </a:bodyPr>
          <a:lstStyle/>
          <a:p>
            <a:r>
              <a:rPr lang="en-IN" b="1" dirty="0">
                <a:latin typeface="Times New Roman" panose="02020603050405020304" pitchFamily="18" charset="0"/>
                <a:ea typeface="Times New Roman" panose="02020603050405020304" pitchFamily="18" charset="0"/>
                <a:cs typeface="Times New Roman" panose="02020603050405020304" pitchFamily="18" charset="0"/>
              </a:rPr>
              <a:t>1.2411CS010054(</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B.Raj</a:t>
            </a:r>
            <a:r>
              <a:rPr lang="en-IN" b="1" dirty="0">
                <a:latin typeface="Times New Roman" panose="02020603050405020304" pitchFamily="18" charset="0"/>
                <a:ea typeface="Times New Roman" panose="02020603050405020304" pitchFamily="18" charset="0"/>
                <a:cs typeface="Times New Roman" panose="02020603050405020304" pitchFamily="18" charset="0"/>
              </a:rPr>
              <a:t> Kiran)                                                                                             2.2411CS010057(</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B.Sanjay</a:t>
            </a:r>
            <a:r>
              <a:rPr lang="en-IN" b="1" dirty="0">
                <a:latin typeface="Times New Roman" panose="02020603050405020304" pitchFamily="18" charset="0"/>
                <a:ea typeface="Times New Roman" panose="02020603050405020304" pitchFamily="18" charset="0"/>
                <a:cs typeface="Times New Roman" panose="02020603050405020304" pitchFamily="18" charset="0"/>
              </a:rPr>
              <a:t> Reddy)                                                                                                  3.2411CS010061(</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B.Srivani</a:t>
            </a:r>
            <a:r>
              <a:rPr lang="en-IN" b="1" dirty="0">
                <a:latin typeface="Times New Roman" panose="02020603050405020304" pitchFamily="18" charset="0"/>
                <a:ea typeface="Times New Roman" panose="02020603050405020304" pitchFamily="18" charset="0"/>
                <a:cs typeface="Times New Roman" panose="02020603050405020304" pitchFamily="18" charset="0"/>
              </a:rPr>
              <a:t>)</a:t>
            </a:r>
            <a:br>
              <a:rPr lang="en-IN" b="1" dirty="0">
                <a:latin typeface="Times New Roman" panose="02020603050405020304" pitchFamily="18" charset="0"/>
                <a:ea typeface="Times New Roman" panose="02020603050405020304" pitchFamily="18" charset="0"/>
                <a:cs typeface="Times New Roman" panose="02020603050405020304" pitchFamily="18" charset="0"/>
              </a:rPr>
            </a:br>
            <a:r>
              <a:rPr lang="en-IN" b="1" dirty="0">
                <a:latin typeface="Times New Roman" panose="02020603050405020304" pitchFamily="18" charset="0"/>
                <a:ea typeface="Times New Roman" panose="02020603050405020304" pitchFamily="18" charset="0"/>
                <a:cs typeface="Times New Roman" panose="02020603050405020304" pitchFamily="18" charset="0"/>
              </a:rPr>
              <a:t>4.2411CS010078(</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B.Kavya</a:t>
            </a:r>
            <a:r>
              <a:rPr lang="en-IN" b="1" dirty="0">
                <a:latin typeface="Times New Roman" panose="02020603050405020304" pitchFamily="18" charset="0"/>
                <a:ea typeface="Times New Roman" panose="02020603050405020304" pitchFamily="18" charset="0"/>
                <a:cs typeface="Times New Roman" panose="02020603050405020304" pitchFamily="18" charset="0"/>
              </a:rPr>
              <a:t> Sri)</a:t>
            </a:r>
          </a:p>
          <a:p>
            <a:r>
              <a:rPr lang="en-IN" b="1" dirty="0">
                <a:latin typeface="Times New Roman" panose="02020603050405020304" pitchFamily="18" charset="0"/>
                <a:ea typeface="Times New Roman" panose="02020603050405020304" pitchFamily="18" charset="0"/>
                <a:cs typeface="Times New Roman" panose="02020603050405020304" pitchFamily="18" charset="0"/>
              </a:rPr>
              <a:t>5.2411CS010079(</a:t>
            </a:r>
            <a:r>
              <a:rPr lang="en-IN" b="1" dirty="0" err="1">
                <a:latin typeface="Times New Roman" panose="02020603050405020304" pitchFamily="18" charset="0"/>
                <a:ea typeface="Times New Roman" panose="02020603050405020304" pitchFamily="18" charset="0"/>
                <a:cs typeface="Times New Roman" panose="02020603050405020304" pitchFamily="18" charset="0"/>
              </a:rPr>
              <a:t>B.Manideep</a:t>
            </a:r>
            <a:r>
              <a:rPr lang="en-IN" b="1">
                <a:latin typeface="Times New Roman" panose="02020603050405020304" pitchFamily="18" charset="0"/>
                <a:ea typeface="Times New Roman" panose="02020603050405020304" pitchFamily="18" charset="0"/>
                <a:cs typeface="Times New Roman" panose="02020603050405020304" pitchFamily="18" charset="0"/>
              </a:rPr>
              <a:t>)</a:t>
            </a:r>
            <a:br>
              <a:rPr lang="en-IN" b="1" dirty="0">
                <a:latin typeface="Times New Roman" panose="02020603050405020304" pitchFamily="18" charset="0"/>
                <a:ea typeface="Times New Roman" panose="02020603050405020304" pitchFamily="18" charset="0"/>
                <a:cs typeface="Times New Roman" panose="02020603050405020304" pitchFamily="18" charset="0"/>
              </a:rPr>
            </a:br>
            <a:r>
              <a:rPr lang="en-IN"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IN" dirty="0"/>
          </a:p>
        </p:txBody>
      </p:sp>
      <p:sp>
        <p:nvSpPr>
          <p:cNvPr id="4" name="TextBox 4">
            <a:extLst>
              <a:ext uri="{FF2B5EF4-FFF2-40B4-BE49-F238E27FC236}">
                <a16:creationId xmlns:a16="http://schemas.microsoft.com/office/drawing/2014/main" id="{73F4E5FB-C162-9DA9-7172-28BF1A6320D1}"/>
              </a:ext>
            </a:extLst>
          </p:cNvPr>
          <p:cNvSpPr txBox="1"/>
          <p:nvPr/>
        </p:nvSpPr>
        <p:spPr>
          <a:xfrm>
            <a:off x="609600" y="1714831"/>
            <a:ext cx="8894050" cy="501675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Abstract</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Introduction</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Limitations of Existing Systems</a:t>
            </a: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Literature survey</a:t>
            </a:r>
            <a:endParaRPr lang="en-IN"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Proposed system</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Existing system</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Data flow diagram</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System architecture</a:t>
            </a: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Hardware and software requirements</a:t>
            </a: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Screenshots of working model</a:t>
            </a: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Results</a:t>
            </a:r>
            <a:endParaRPr lang="en-IN"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Conclusion</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B0BBB-09AA-7861-B9BC-7AFDAE818437}"/>
              </a:ext>
            </a:extLst>
          </p:cNvPr>
          <p:cNvSpPr>
            <a:spLocks noGrp="1"/>
          </p:cNvSpPr>
          <p:nvPr>
            <p:ph type="title"/>
          </p:nvPr>
        </p:nvSpPr>
        <p:spPr/>
        <p:txBody>
          <a:bodyPr/>
          <a:lstStyle/>
          <a:p>
            <a:r>
              <a:rPr lang="en-IN" u="sng" dirty="0"/>
              <a:t>ABSTRACT</a:t>
            </a:r>
          </a:p>
        </p:txBody>
      </p:sp>
      <p:sp>
        <p:nvSpPr>
          <p:cNvPr id="7" name="Rectangle 4">
            <a:extLst>
              <a:ext uri="{FF2B5EF4-FFF2-40B4-BE49-F238E27FC236}">
                <a16:creationId xmlns:a16="http://schemas.microsoft.com/office/drawing/2014/main" id="{034A8BE0-69D8-47AA-8833-AB929E7FC838}"/>
              </a:ext>
            </a:extLst>
          </p:cNvPr>
          <p:cNvSpPr>
            <a:spLocks noChangeArrowheads="1"/>
          </p:cNvSpPr>
          <p:nvPr/>
        </p:nvSpPr>
        <p:spPr bwMode="auto">
          <a:xfrm>
            <a:off x="485030" y="1567352"/>
            <a:ext cx="11386267"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sz="2000" dirty="0">
                <a:latin typeface="Times New Roman" panose="02020603050405020304" pitchFamily="18" charset="0"/>
                <a:cs typeface="Times New Roman" panose="02020603050405020304" pitchFamily="18" charset="0"/>
              </a:rPr>
              <a:t>An AI-powered employee management system is a modern solution designed to streamline workforce</a:t>
            </a:r>
          </a:p>
          <a:p>
            <a:r>
              <a:rPr lang="en-US" sz="2000" dirty="0">
                <a:latin typeface="Times New Roman" panose="02020603050405020304" pitchFamily="18" charset="0"/>
                <a:cs typeface="Times New Roman" panose="02020603050405020304" pitchFamily="18" charset="0"/>
              </a:rPr>
              <a:t> operations by integrating artificial intelligence into everyday HR and organizational tasks. It enhances</a:t>
            </a:r>
          </a:p>
          <a:p>
            <a:r>
              <a:rPr lang="en-US" sz="2000" dirty="0">
                <a:latin typeface="Times New Roman" panose="02020603050405020304" pitchFamily="18" charset="0"/>
                <a:cs typeface="Times New Roman" panose="02020603050405020304" pitchFamily="18" charset="0"/>
              </a:rPr>
              <a:t> traditional management systems through the use of data-driven insights, automation, and predictive </a:t>
            </a:r>
          </a:p>
          <a:p>
            <a:r>
              <a:rPr lang="en-US" sz="2000" dirty="0">
                <a:latin typeface="Times New Roman" panose="02020603050405020304" pitchFamily="18" charset="0"/>
                <a:cs typeface="Times New Roman" panose="02020603050405020304" pitchFamily="18" charset="0"/>
              </a:rPr>
              <a:t>analytics, enabling efficient decision-making. The system can automate routine tasks such as attendance </a:t>
            </a:r>
          </a:p>
          <a:p>
            <a:r>
              <a:rPr lang="en-US" sz="2000" dirty="0">
                <a:latin typeface="Times New Roman" panose="02020603050405020304" pitchFamily="18" charset="0"/>
                <a:cs typeface="Times New Roman" panose="02020603050405020304" pitchFamily="18" charset="0"/>
              </a:rPr>
              <a:t>tracking, payroll management, and performance evaluation, thereby reducing manual effort and minimizing</a:t>
            </a:r>
          </a:p>
          <a:p>
            <a:r>
              <a:rPr lang="en-US" sz="2000" dirty="0">
                <a:latin typeface="Times New Roman" panose="02020603050405020304" pitchFamily="18" charset="0"/>
                <a:cs typeface="Times New Roman" panose="02020603050405020304" pitchFamily="18" charset="0"/>
              </a:rPr>
              <a:t> errors.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also leverages AI techniques to analyze employee behavior, productivity, and engagement </a:t>
            </a:r>
          </a:p>
          <a:p>
            <a:r>
              <a:rPr lang="en-US" sz="2000" dirty="0">
                <a:latin typeface="Times New Roman" panose="02020603050405020304" pitchFamily="18" charset="0"/>
                <a:cs typeface="Times New Roman" panose="02020603050405020304" pitchFamily="18" charset="0"/>
              </a:rPr>
              <a:t>levels, providing valuable insights to managers for improved performance. It includes intelligent chatbots </a:t>
            </a:r>
          </a:p>
          <a:p>
            <a:r>
              <a:rPr lang="en-US" sz="2000" dirty="0">
                <a:latin typeface="Times New Roman" panose="02020603050405020304" pitchFamily="18" charset="0"/>
                <a:cs typeface="Times New Roman" panose="02020603050405020304" pitchFamily="18" charset="0"/>
              </a:rPr>
              <a:t>to assist employees with queries and uses natural language processing for sentiment analysis, helping organizations understand workplace morale. Overall, this system transforms workforce management into </a:t>
            </a:r>
          </a:p>
          <a:p>
            <a:r>
              <a:rPr lang="en-US" sz="2000" dirty="0">
                <a:latin typeface="Times New Roman" panose="02020603050405020304" pitchFamily="18" charset="0"/>
                <a:cs typeface="Times New Roman" panose="02020603050405020304" pitchFamily="18" charset="0"/>
              </a:rPr>
              <a:t>a smarter, more efficient, and adaptive process, promoting productivity, employee growth, and </a:t>
            </a:r>
          </a:p>
          <a:p>
            <a:r>
              <a:rPr lang="en-US" sz="2000" dirty="0">
                <a:latin typeface="Times New Roman" panose="02020603050405020304" pitchFamily="18" charset="0"/>
                <a:cs typeface="Times New Roman" panose="02020603050405020304" pitchFamily="18" charset="0"/>
              </a:rPr>
              <a:t>organizational success.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t>
            </a:r>
          </a:p>
        </p:txBody>
      </p:sp>
      <p:sp>
        <p:nvSpPr>
          <p:cNvPr id="8" name="Rectangle 5">
            <a:extLst>
              <a:ext uri="{FF2B5EF4-FFF2-40B4-BE49-F238E27FC236}">
                <a16:creationId xmlns:a16="http://schemas.microsoft.com/office/drawing/2014/main" id="{14376200-046B-C522-CB96-556C6363439F}"/>
              </a:ext>
            </a:extLst>
          </p:cNvPr>
          <p:cNvSpPr>
            <a:spLocks noChangeArrowheads="1"/>
          </p:cNvSpPr>
          <p:nvPr/>
        </p:nvSpPr>
        <p:spPr bwMode="auto">
          <a:xfrm>
            <a:off x="-189470" y="457200"/>
            <a:ext cx="12381470" cy="232711"/>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964252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CC959-1222-812A-F511-F6257E75FCF4}"/>
              </a:ext>
            </a:extLst>
          </p:cNvPr>
          <p:cNvSpPr>
            <a:spLocks noGrp="1"/>
          </p:cNvSpPr>
          <p:nvPr>
            <p:ph type="title"/>
          </p:nvPr>
        </p:nvSpPr>
        <p:spPr/>
        <p:txBody>
          <a:bodyPr/>
          <a:lstStyle/>
          <a:p>
            <a:r>
              <a:rPr lang="en-IN" u="sng" dirty="0"/>
              <a:t>INTRODUCTION</a:t>
            </a:r>
          </a:p>
        </p:txBody>
      </p:sp>
      <p:sp>
        <p:nvSpPr>
          <p:cNvPr id="4" name="TextBox 3">
            <a:extLst>
              <a:ext uri="{FF2B5EF4-FFF2-40B4-BE49-F238E27FC236}">
                <a16:creationId xmlns:a16="http://schemas.microsoft.com/office/drawing/2014/main" id="{96CACFEF-BBE5-D5A0-B853-6301EDE7E4D9}"/>
              </a:ext>
            </a:extLst>
          </p:cNvPr>
          <p:cNvSpPr txBox="1"/>
          <p:nvPr/>
        </p:nvSpPr>
        <p:spPr>
          <a:xfrm>
            <a:off x="297180" y="1402081"/>
            <a:ext cx="11563516" cy="4401205"/>
          </a:xfrm>
          <a:prstGeom prst="rect">
            <a:avLst/>
          </a:prstGeom>
          <a:noFill/>
        </p:spPr>
        <p:txBody>
          <a:bodyPr wrap="square">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AI-Based Employee Management System (EMS Pro)</a:t>
            </a:r>
            <a:r>
              <a:rPr lang="en-US" sz="2000" dirty="0">
                <a:latin typeface="Times New Roman" panose="02020603050405020304" pitchFamily="18" charset="0"/>
                <a:cs typeface="Times New Roman" panose="02020603050405020304" pitchFamily="18" charset="0"/>
              </a:rPr>
              <a:t> is a </a:t>
            </a:r>
            <a:r>
              <a:rPr lang="en-US" sz="2000" b="1" dirty="0">
                <a:latin typeface="Times New Roman" panose="02020603050405020304" pitchFamily="18" charset="0"/>
                <a:cs typeface="Times New Roman" panose="02020603050405020304" pitchFamily="18" charset="0"/>
              </a:rPr>
              <a:t>web-based enterprise HR </a:t>
            </a:r>
          </a:p>
          <a:p>
            <a:pPr algn="just"/>
            <a:r>
              <a:rPr lang="en-US" sz="2000" b="1" dirty="0">
                <a:latin typeface="Times New Roman" panose="02020603050405020304" pitchFamily="18" charset="0"/>
                <a:cs typeface="Times New Roman" panose="02020603050405020304" pitchFamily="18" charset="0"/>
              </a:rPr>
              <a:t>     automation platform</a:t>
            </a:r>
            <a:r>
              <a:rPr lang="en-US" sz="2000" dirty="0">
                <a:latin typeface="Times New Roman" panose="02020603050405020304" pitchFamily="18" charset="0"/>
                <a:cs typeface="Times New Roman" panose="02020603050405020304" pitchFamily="18" charset="0"/>
              </a:rPr>
              <a:t> designed to streamline and optimize organizational workforce management.</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integrates an </a:t>
            </a:r>
            <a:r>
              <a:rPr lang="en-US" sz="2000" b="1" dirty="0">
                <a:latin typeface="Times New Roman" panose="02020603050405020304" pitchFamily="18" charset="0"/>
                <a:cs typeface="Times New Roman" panose="02020603050405020304" pitchFamily="18" charset="0"/>
              </a:rPr>
              <a:t>AI-powered Chatbot</a:t>
            </a:r>
            <a:r>
              <a:rPr lang="en-US" sz="2000" dirty="0">
                <a:latin typeface="Times New Roman" panose="02020603050405020304" pitchFamily="18" charset="0"/>
                <a:cs typeface="Times New Roman" panose="02020603050405020304" pitchFamily="18" charset="0"/>
              </a:rPr>
              <a:t> that allows employees to </a:t>
            </a:r>
            <a:r>
              <a:rPr lang="en-US" sz="2000" b="1" dirty="0">
                <a:latin typeface="Times New Roman" panose="02020603050405020304" pitchFamily="18" charset="0"/>
                <a:cs typeface="Times New Roman" panose="02020603050405020304" pitchFamily="18" charset="0"/>
              </a:rPr>
              <a:t>generate official letters</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     request information, and interact with the system intelligently.</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Administrators can </a:t>
            </a:r>
            <a:r>
              <a:rPr lang="en-US" sz="2000" b="1" dirty="0">
                <a:latin typeface="Times New Roman" panose="02020603050405020304" pitchFamily="18" charset="0"/>
                <a:cs typeface="Times New Roman" panose="02020603050405020304" pitchFamily="18" charset="0"/>
              </a:rPr>
              <a:t>analyze CSV files</a:t>
            </a:r>
            <a:r>
              <a:rPr lang="en-US" sz="2000" dirty="0">
                <a:latin typeface="Times New Roman" panose="02020603050405020304" pitchFamily="18" charset="0"/>
                <a:cs typeface="Times New Roman" panose="02020603050405020304" pitchFamily="18" charset="0"/>
              </a:rPr>
              <a:t>, monitor </a:t>
            </a:r>
            <a:r>
              <a:rPr lang="en-US" sz="2000" b="1" dirty="0">
                <a:latin typeface="Times New Roman" panose="02020603050405020304" pitchFamily="18" charset="0"/>
                <a:cs typeface="Times New Roman" panose="02020603050405020304" pitchFamily="18" charset="0"/>
              </a:rPr>
              <a:t>attendance records</a:t>
            </a:r>
            <a:r>
              <a:rPr lang="en-US" sz="2000" dirty="0">
                <a:latin typeface="Times New Roman" panose="02020603050405020304" pitchFamily="18" charset="0"/>
                <a:cs typeface="Times New Roman" panose="02020603050405020304" pitchFamily="18" charset="0"/>
              </a:rPr>
              <a:t>, track </a:t>
            </a:r>
            <a:r>
              <a:rPr lang="en-US" sz="2000" b="1" dirty="0">
                <a:latin typeface="Times New Roman" panose="02020603050405020304" pitchFamily="18" charset="0"/>
                <a:cs typeface="Times New Roman" panose="02020603050405020304" pitchFamily="18" charset="0"/>
              </a:rPr>
              <a:t>department-wise </a:t>
            </a:r>
          </a:p>
          <a:p>
            <a:pPr algn="just"/>
            <a:r>
              <a:rPr lang="en-US" sz="2000" b="1" dirty="0">
                <a:latin typeface="Times New Roman" panose="02020603050405020304" pitchFamily="18" charset="0"/>
                <a:cs typeface="Times New Roman" panose="02020603050405020304" pitchFamily="18" charset="0"/>
              </a:rPr>
              <a:t>     performance</a:t>
            </a:r>
            <a:r>
              <a:rPr lang="en-US" sz="2000" dirty="0">
                <a:latin typeface="Times New Roman" panose="02020603050405020304" pitchFamily="18" charset="0"/>
                <a:cs typeface="Times New Roman" panose="02020603050405020304" pitchFamily="18" charset="0"/>
              </a:rPr>
              <a:t>, and generate </a:t>
            </a:r>
            <a:r>
              <a:rPr lang="en-US" sz="2000" b="1" dirty="0">
                <a:latin typeface="Times New Roman" panose="02020603050405020304" pitchFamily="18" charset="0"/>
                <a:cs typeface="Times New Roman" panose="02020603050405020304" pitchFamily="18" charset="0"/>
              </a:rPr>
              <a:t>real-time analytics dashboards</a:t>
            </a:r>
            <a:r>
              <a:rPr lang="en-US" sz="2000" dirty="0">
                <a:latin typeface="Times New Roman" panose="02020603050405020304" pitchFamily="18" charset="0"/>
                <a:cs typeface="Times New Roman" panose="02020603050405020304" pitchFamily="18" charset="0"/>
              </a:rPr>
              <a:t> for better decision-making.</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EMS Pro replaces </a:t>
            </a:r>
            <a:r>
              <a:rPr lang="en-US" sz="2000" b="1" dirty="0">
                <a:latin typeface="Times New Roman" panose="02020603050405020304" pitchFamily="18" charset="0"/>
                <a:cs typeface="Times New Roman" panose="02020603050405020304" pitchFamily="18" charset="0"/>
              </a:rPr>
              <a:t>manual HR operations</a:t>
            </a:r>
            <a:r>
              <a:rPr lang="en-US" sz="2000" dirty="0">
                <a:latin typeface="Times New Roman" panose="02020603050405020304" pitchFamily="18" charset="0"/>
                <a:cs typeface="Times New Roman" panose="02020603050405020304" pitchFamily="18" charset="0"/>
              </a:rPr>
              <a:t> with a </a:t>
            </a:r>
            <a:r>
              <a:rPr lang="en-US" sz="2000" b="1" dirty="0">
                <a:latin typeface="Times New Roman" panose="02020603050405020304" pitchFamily="18" charset="0"/>
                <a:cs typeface="Times New Roman" panose="02020603050405020304" pitchFamily="18" charset="0"/>
              </a:rPr>
              <a:t>smart, scalable, AI-driven, and data-centric   </a:t>
            </a:r>
          </a:p>
          <a:p>
            <a:pPr algn="just"/>
            <a:r>
              <a:rPr lang="en-US" sz="2000" b="1" dirty="0">
                <a:latin typeface="Times New Roman" panose="02020603050405020304" pitchFamily="18" charset="0"/>
                <a:cs typeface="Times New Roman" panose="02020603050405020304" pitchFamily="18" charset="0"/>
              </a:rPr>
              <a:t>     solution</a:t>
            </a:r>
            <a:r>
              <a:rPr lang="en-US" sz="2000" dirty="0">
                <a:latin typeface="Times New Roman" panose="02020603050405020304" pitchFamily="18" charset="0"/>
                <a:cs typeface="Times New Roman" panose="02020603050405020304" pitchFamily="18" charset="0"/>
              </a:rPr>
              <a:t>, improving </a:t>
            </a:r>
            <a:r>
              <a:rPr lang="en-US" sz="2000" b="1" dirty="0">
                <a:latin typeface="Times New Roman" panose="02020603050405020304" pitchFamily="18" charset="0"/>
                <a:cs typeface="Times New Roman" panose="02020603050405020304" pitchFamily="18" charset="0"/>
              </a:rPr>
              <a:t>efficiency, transparency, and productivity</a:t>
            </a:r>
            <a:r>
              <a:rPr lang="en-US" sz="2000" dirty="0">
                <a:latin typeface="Times New Roman" panose="02020603050405020304" pitchFamily="18" charset="0"/>
                <a:cs typeface="Times New Roman" panose="02020603050405020304" pitchFamily="18" charset="0"/>
              </a:rPr>
              <a:t> across the organization.</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Additionally, the system supports </a:t>
            </a:r>
            <a:r>
              <a:rPr lang="en-US" sz="2000" b="1" dirty="0">
                <a:latin typeface="Times New Roman" panose="02020603050405020304" pitchFamily="18" charset="0"/>
                <a:cs typeface="Times New Roman" panose="02020603050405020304" pitchFamily="18" charset="0"/>
              </a:rPr>
              <a:t>25+ languages (including 15+ Indian and 10+ foreign</a:t>
            </a:r>
          </a:p>
          <a:p>
            <a:pPr algn="just"/>
            <a:r>
              <a:rPr lang="en-US" sz="2000" b="1" dirty="0">
                <a:latin typeface="Times New Roman" panose="02020603050405020304" pitchFamily="18" charset="0"/>
                <a:cs typeface="Times New Roman" panose="02020603050405020304" pitchFamily="18" charset="0"/>
              </a:rPr>
              <a:t>     languages)</a:t>
            </a:r>
            <a:r>
              <a:rPr lang="en-US" sz="2000" dirty="0">
                <a:latin typeface="Times New Roman" panose="02020603050405020304" pitchFamily="18" charset="0"/>
                <a:cs typeface="Times New Roman" panose="02020603050405020304" pitchFamily="18" charset="0"/>
              </a:rPr>
              <a:t>, ensuring </a:t>
            </a:r>
            <a:r>
              <a:rPr lang="en-US" sz="2000" b="1" dirty="0">
                <a:latin typeface="Times New Roman" panose="02020603050405020304" pitchFamily="18" charset="0"/>
                <a:cs typeface="Times New Roman" panose="02020603050405020304" pitchFamily="18" charset="0"/>
              </a:rPr>
              <a:t>multilingual accessibility and global usability</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476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7936D-8221-EC90-0A7D-532EDC36C68C}"/>
              </a:ext>
            </a:extLst>
          </p:cNvPr>
          <p:cNvSpPr>
            <a:spLocks noGrp="1"/>
          </p:cNvSpPr>
          <p:nvPr>
            <p:ph type="title"/>
          </p:nvPr>
        </p:nvSpPr>
        <p:spPr>
          <a:xfrm>
            <a:off x="358140" y="457200"/>
            <a:ext cx="11224260" cy="853440"/>
          </a:xfrm>
        </p:spPr>
        <p:txBody>
          <a:bodyPr/>
          <a:lstStyle/>
          <a:p>
            <a:r>
              <a:rPr lang="en-IN" u="sng" dirty="0"/>
              <a:t>LIMITATION OF EXISTING SYSTEM</a:t>
            </a:r>
          </a:p>
        </p:txBody>
      </p:sp>
      <p:sp>
        <p:nvSpPr>
          <p:cNvPr id="6" name="TextBox 5">
            <a:extLst>
              <a:ext uri="{FF2B5EF4-FFF2-40B4-BE49-F238E27FC236}">
                <a16:creationId xmlns:a16="http://schemas.microsoft.com/office/drawing/2014/main" id="{E5354F1E-B9E8-8471-DC2F-6DA6C2ADF1FC}"/>
              </a:ext>
            </a:extLst>
          </p:cNvPr>
          <p:cNvSpPr txBox="1"/>
          <p:nvPr/>
        </p:nvSpPr>
        <p:spPr>
          <a:xfrm>
            <a:off x="463495" y="1714500"/>
            <a:ext cx="11569148" cy="4708981"/>
          </a:xfrm>
          <a:prstGeom prst="rect">
            <a:avLst/>
          </a:prstGeom>
          <a:noFill/>
        </p:spPr>
        <p:txBody>
          <a:bodyPr wrap="square">
            <a:spAutoFit/>
          </a:bodyPr>
          <a:lstStyle/>
          <a:p>
            <a:pPr algn="just">
              <a:buNone/>
            </a:pPr>
            <a:r>
              <a:rPr lang="en-US" sz="2000" dirty="0"/>
              <a:t>Most traditional </a:t>
            </a:r>
            <a:r>
              <a:rPr lang="en-US" sz="2000" b="1" dirty="0"/>
              <a:t>Employee Management Systems</a:t>
            </a:r>
            <a:r>
              <a:rPr lang="en-US" sz="2000" dirty="0"/>
              <a:t> rely heavily on </a:t>
            </a:r>
            <a:r>
              <a:rPr lang="en-US" sz="2000" b="1" dirty="0"/>
              <a:t>manual data entry</a:t>
            </a:r>
            <a:r>
              <a:rPr lang="en-US" sz="2000" dirty="0"/>
              <a:t> and </a:t>
            </a:r>
            <a:r>
              <a:rPr lang="en-US" sz="2000" b="1" dirty="0"/>
              <a:t>spreadsheet</a:t>
            </a:r>
          </a:p>
          <a:p>
            <a:pPr algn="just">
              <a:buNone/>
            </a:pPr>
            <a:r>
              <a:rPr lang="en-US" sz="2000" b="1" dirty="0"/>
              <a:t>-based record maintenance</a:t>
            </a:r>
            <a:r>
              <a:rPr lang="en-US" sz="2000" dirty="0"/>
              <a:t>, which increases the chances of </a:t>
            </a:r>
            <a:r>
              <a:rPr lang="en-US" sz="2000" b="1" dirty="0"/>
              <a:t>human error</a:t>
            </a:r>
            <a:r>
              <a:rPr lang="en-US" sz="2000" dirty="0"/>
              <a:t> and </a:t>
            </a:r>
            <a:r>
              <a:rPr lang="en-US" sz="2000" b="1" dirty="0"/>
              <a:t>data inconsistency</a:t>
            </a:r>
            <a:r>
              <a:rPr lang="en-US" sz="2000" dirty="0"/>
              <a:t>.</a:t>
            </a:r>
          </a:p>
          <a:p>
            <a:pPr algn="just">
              <a:buNone/>
            </a:pPr>
            <a:endParaRPr lang="en-US" sz="2000" dirty="0"/>
          </a:p>
          <a:p>
            <a:pPr marL="285750" indent="-285750" algn="just">
              <a:buFont typeface="Wingdings" panose="05000000000000000000" pitchFamily="2" charset="2"/>
              <a:buChar char="q"/>
            </a:pPr>
            <a:r>
              <a:rPr lang="en-US" sz="2000" b="1" dirty="0"/>
              <a:t>Manual and time-consuming HR operations</a:t>
            </a:r>
            <a:endParaRPr lang="en-US" sz="2000" dirty="0"/>
          </a:p>
          <a:p>
            <a:pPr marL="285750" indent="-285750" algn="just">
              <a:buFont typeface="Wingdings" panose="05000000000000000000" pitchFamily="2" charset="2"/>
              <a:buChar char="q"/>
            </a:pPr>
            <a:r>
              <a:rPr lang="en-US" sz="2000" dirty="0"/>
              <a:t>Limited automation and no </a:t>
            </a:r>
            <a:r>
              <a:rPr lang="en-US" sz="2000" b="1" dirty="0"/>
              <a:t>AI-based chatbot assistance</a:t>
            </a:r>
            <a:endParaRPr lang="en-US" sz="2000" dirty="0"/>
          </a:p>
          <a:p>
            <a:pPr marL="285750" indent="-285750" algn="just">
              <a:buFont typeface="Wingdings" panose="05000000000000000000" pitchFamily="2" charset="2"/>
              <a:buChar char="q"/>
            </a:pPr>
            <a:r>
              <a:rPr lang="en-US" sz="2000" dirty="0"/>
              <a:t>No </a:t>
            </a:r>
            <a:r>
              <a:rPr lang="en-US" sz="2000" b="1" dirty="0"/>
              <a:t>automated letter or document generation</a:t>
            </a:r>
            <a:endParaRPr lang="en-US" sz="2000" dirty="0"/>
          </a:p>
          <a:p>
            <a:pPr marL="285750" indent="-285750" algn="just">
              <a:buFont typeface="Wingdings" panose="05000000000000000000" pitchFamily="2" charset="2"/>
              <a:buChar char="q"/>
            </a:pPr>
            <a:r>
              <a:rPr lang="en-US" sz="2000" dirty="0"/>
              <a:t>Basic attendance tracking without advanced </a:t>
            </a:r>
            <a:r>
              <a:rPr lang="en-US" sz="2000" b="1" dirty="0"/>
              <a:t>CSV analytics</a:t>
            </a:r>
            <a:endParaRPr lang="en-US" sz="2000" dirty="0"/>
          </a:p>
          <a:p>
            <a:pPr marL="285750" indent="-285750" algn="just">
              <a:buFont typeface="Wingdings" panose="05000000000000000000" pitchFamily="2" charset="2"/>
              <a:buChar char="q"/>
            </a:pPr>
            <a:r>
              <a:rPr lang="en-US" sz="2000" dirty="0"/>
              <a:t>Lack of </a:t>
            </a:r>
            <a:r>
              <a:rPr lang="en-US" sz="2000" b="1" dirty="0"/>
              <a:t>real-time dashboards</a:t>
            </a:r>
            <a:r>
              <a:rPr lang="en-US" sz="2000" dirty="0"/>
              <a:t> and </a:t>
            </a:r>
            <a:r>
              <a:rPr lang="en-US" sz="2000" b="1" dirty="0"/>
              <a:t>decision-support insights</a:t>
            </a:r>
            <a:endParaRPr lang="en-US" sz="2000" dirty="0"/>
          </a:p>
          <a:p>
            <a:pPr marL="285750" indent="-285750" algn="just">
              <a:buFont typeface="Wingdings" panose="05000000000000000000" pitchFamily="2" charset="2"/>
              <a:buChar char="q"/>
            </a:pPr>
            <a:r>
              <a:rPr lang="en-US" sz="2000" dirty="0"/>
              <a:t>Poor </a:t>
            </a:r>
            <a:r>
              <a:rPr lang="en-US" sz="2000" b="1" dirty="0"/>
              <a:t>scalability</a:t>
            </a:r>
            <a:r>
              <a:rPr lang="en-US" sz="2000" dirty="0"/>
              <a:t> for growing organizations</a:t>
            </a:r>
          </a:p>
          <a:p>
            <a:pPr marL="285750" indent="-285750" algn="just">
              <a:buFont typeface="Wingdings" panose="05000000000000000000" pitchFamily="2" charset="2"/>
              <a:buChar char="q"/>
            </a:pPr>
            <a:r>
              <a:rPr lang="en-US" sz="2000" dirty="0"/>
              <a:t>No </a:t>
            </a:r>
            <a:r>
              <a:rPr lang="en-US" sz="2000" b="1" dirty="0"/>
              <a:t>multilingual support</a:t>
            </a:r>
            <a:r>
              <a:rPr lang="en-US" sz="2000" dirty="0"/>
              <a:t> for regional and global accessibility</a:t>
            </a:r>
          </a:p>
          <a:p>
            <a:pPr algn="just">
              <a:buFont typeface="Arial" panose="020B0604020202020204" pitchFamily="34" charset="0"/>
              <a:buChar char="•"/>
            </a:pPr>
            <a:endParaRPr lang="en-US" sz="2000" dirty="0"/>
          </a:p>
          <a:p>
            <a:pPr algn="just">
              <a:buNone/>
            </a:pPr>
            <a:r>
              <a:rPr lang="en-US" sz="2000" dirty="0"/>
              <a:t>These limitations reduce </a:t>
            </a:r>
            <a:r>
              <a:rPr lang="en-US" sz="2000" b="1" dirty="0"/>
              <a:t>operational efficiency</a:t>
            </a:r>
            <a:r>
              <a:rPr lang="en-US" sz="2000" dirty="0"/>
              <a:t>, </a:t>
            </a:r>
            <a:r>
              <a:rPr lang="en-US" sz="2000" b="1" dirty="0"/>
              <a:t>transparency</a:t>
            </a:r>
            <a:r>
              <a:rPr lang="en-US" sz="2000" dirty="0"/>
              <a:t>, and </a:t>
            </a:r>
            <a:r>
              <a:rPr lang="en-US" sz="2000" b="1" dirty="0"/>
              <a:t>data-driven decision-making</a:t>
            </a:r>
            <a:r>
              <a:rPr lang="en-US" sz="2000" dirty="0"/>
              <a:t> </a:t>
            </a:r>
          </a:p>
          <a:p>
            <a:pPr algn="just">
              <a:buNone/>
            </a:pPr>
            <a:r>
              <a:rPr lang="en-US" sz="2000" dirty="0"/>
              <a:t>within organizations.</a:t>
            </a:r>
          </a:p>
        </p:txBody>
      </p:sp>
    </p:spTree>
    <p:extLst>
      <p:ext uri="{BB962C8B-B14F-4D97-AF65-F5344CB8AC3E}">
        <p14:creationId xmlns:p14="http://schemas.microsoft.com/office/powerpoint/2010/main" val="3790907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C5E0-E1D8-D53B-4738-9F11B0E09B4F}"/>
              </a:ext>
            </a:extLst>
          </p:cNvPr>
          <p:cNvSpPr>
            <a:spLocks noGrp="1"/>
          </p:cNvSpPr>
          <p:nvPr>
            <p:ph type="title"/>
          </p:nvPr>
        </p:nvSpPr>
        <p:spPr/>
        <p:txBody>
          <a:bodyPr/>
          <a:lstStyle/>
          <a:p>
            <a:r>
              <a:rPr lang="en-IN" u="sng" dirty="0"/>
              <a:t>LITERATURE SURVEY</a:t>
            </a:r>
          </a:p>
        </p:txBody>
      </p:sp>
      <p:sp>
        <p:nvSpPr>
          <p:cNvPr id="4" name="TextBox 3">
            <a:extLst>
              <a:ext uri="{FF2B5EF4-FFF2-40B4-BE49-F238E27FC236}">
                <a16:creationId xmlns:a16="http://schemas.microsoft.com/office/drawing/2014/main" id="{2F7518DB-D0CB-2B8D-9191-ED30DC642CCF}"/>
              </a:ext>
            </a:extLst>
          </p:cNvPr>
          <p:cNvSpPr txBox="1"/>
          <p:nvPr/>
        </p:nvSpPr>
        <p:spPr>
          <a:xfrm>
            <a:off x="427383" y="1729409"/>
            <a:ext cx="11290852" cy="4524315"/>
          </a:xfrm>
          <a:prstGeom prst="rect">
            <a:avLst/>
          </a:prstGeom>
          <a:noFill/>
        </p:spPr>
        <p:txBody>
          <a:bodyPr wrap="square">
            <a:spAutoFit/>
          </a:bodyPr>
          <a:lstStyle/>
          <a:p>
            <a:pPr marL="285750" indent="-285750" algn="just">
              <a:buFont typeface="Arial" panose="020B0604020202020204" pitchFamily="34" charset="0"/>
              <a:buChar char="•"/>
            </a:pPr>
            <a:r>
              <a:rPr lang="en-US" dirty="0"/>
              <a:t>Existing </a:t>
            </a:r>
            <a:r>
              <a:rPr lang="en-US" b="1" dirty="0"/>
              <a:t>Employee Management Systems</a:t>
            </a:r>
            <a:r>
              <a:rPr lang="en-US" dirty="0"/>
              <a:t> mainly focus on </a:t>
            </a:r>
            <a:r>
              <a:rPr lang="en-US" b="1" dirty="0"/>
              <a:t>employee data storage, attendance tracking, payroll, and leave management</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Most traditional systems provide </a:t>
            </a:r>
            <a:r>
              <a:rPr lang="en-US" b="1" dirty="0"/>
              <a:t>basic reporting features</a:t>
            </a:r>
            <a:r>
              <a:rPr lang="en-US" dirty="0"/>
              <a:t> but lack </a:t>
            </a:r>
            <a:r>
              <a:rPr lang="en-US" b="1" dirty="0"/>
              <a:t>AI-based automation and intelligent interaction</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Recent advancements in </a:t>
            </a:r>
            <a:r>
              <a:rPr lang="en-US" b="1" dirty="0"/>
              <a:t>Artificial Intelligence (AI)</a:t>
            </a:r>
            <a:r>
              <a:rPr lang="en-US" dirty="0"/>
              <a:t> and </a:t>
            </a:r>
            <a:r>
              <a:rPr lang="en-US" b="1" dirty="0"/>
              <a:t>Natural Language Processing (NLP)</a:t>
            </a:r>
            <a:r>
              <a:rPr lang="en-US" dirty="0"/>
              <a:t> enable the use of </a:t>
            </a:r>
            <a:r>
              <a:rPr lang="en-US" b="1" dirty="0"/>
              <a:t>AI chatbots</a:t>
            </a:r>
            <a:r>
              <a:rPr lang="en-US" dirty="0"/>
              <a:t> for automated communication and document generation.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However, existing solutions do not effectively combine:</a:t>
            </a:r>
          </a:p>
          <a:p>
            <a:pPr marL="342900" indent="-342900" algn="just">
              <a:buFont typeface="+mj-lt"/>
              <a:buAutoNum type="arabicPeriod"/>
            </a:pPr>
            <a:r>
              <a:rPr lang="en-US" b="1" dirty="0"/>
              <a:t>AI-powered chatbot</a:t>
            </a:r>
            <a:endParaRPr lang="en-US" dirty="0"/>
          </a:p>
          <a:p>
            <a:pPr marL="342900" indent="-342900" algn="just">
              <a:buFont typeface="+mj-lt"/>
              <a:buAutoNum type="arabicPeriod"/>
            </a:pPr>
            <a:r>
              <a:rPr lang="en-US" b="1" dirty="0"/>
              <a:t>CSV-based attendance analytics</a:t>
            </a:r>
            <a:endParaRPr lang="en-US" dirty="0"/>
          </a:p>
          <a:p>
            <a:pPr marL="342900" indent="-342900" algn="just">
              <a:buFont typeface="+mj-lt"/>
              <a:buAutoNum type="arabicPeriod"/>
            </a:pPr>
            <a:r>
              <a:rPr lang="en-US" b="1" dirty="0"/>
              <a:t>Real-time dashboards</a:t>
            </a:r>
            <a:endParaRPr lang="en-US" dirty="0"/>
          </a:p>
          <a:p>
            <a:pPr marL="342900" indent="-342900" algn="just">
              <a:buFont typeface="+mj-lt"/>
              <a:buAutoNum type="arabicPeriod"/>
            </a:pPr>
            <a:r>
              <a:rPr lang="en-US" b="1" dirty="0"/>
              <a:t>25+ multilingual support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Our system integrates these features into a </a:t>
            </a:r>
            <a:r>
              <a:rPr lang="en-US" b="1" dirty="0"/>
              <a:t>single scalable enterprise platform</a:t>
            </a:r>
            <a:r>
              <a:rPr lang="en-US" dirty="0"/>
              <a:t>.</a:t>
            </a:r>
          </a:p>
        </p:txBody>
      </p:sp>
    </p:spTree>
    <p:extLst>
      <p:ext uri="{BB962C8B-B14F-4D97-AF65-F5344CB8AC3E}">
        <p14:creationId xmlns:p14="http://schemas.microsoft.com/office/powerpoint/2010/main" val="1081129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B6910-142C-9AC6-33F1-113A87742D87}"/>
              </a:ext>
            </a:extLst>
          </p:cNvPr>
          <p:cNvSpPr>
            <a:spLocks noGrp="1"/>
          </p:cNvSpPr>
          <p:nvPr>
            <p:ph type="title"/>
          </p:nvPr>
        </p:nvSpPr>
        <p:spPr/>
        <p:txBody>
          <a:bodyPr/>
          <a:lstStyle/>
          <a:p>
            <a:r>
              <a:rPr lang="en-IN" u="sng" dirty="0"/>
              <a:t>PROPOSED SYSTEM</a:t>
            </a:r>
          </a:p>
        </p:txBody>
      </p:sp>
      <p:sp>
        <p:nvSpPr>
          <p:cNvPr id="4" name="TextBox 3">
            <a:extLst>
              <a:ext uri="{FF2B5EF4-FFF2-40B4-BE49-F238E27FC236}">
                <a16:creationId xmlns:a16="http://schemas.microsoft.com/office/drawing/2014/main" id="{F3D15BDD-F705-2119-57E1-8A7FF49226EE}"/>
              </a:ext>
            </a:extLst>
          </p:cNvPr>
          <p:cNvSpPr txBox="1"/>
          <p:nvPr/>
        </p:nvSpPr>
        <p:spPr>
          <a:xfrm>
            <a:off x="609599" y="1798983"/>
            <a:ext cx="10899913" cy="4093428"/>
          </a:xfrm>
          <a:prstGeom prst="rect">
            <a:avLst/>
          </a:prstGeom>
          <a:noFill/>
        </p:spPr>
        <p:txBody>
          <a:bodyPr wrap="square">
            <a:spAutoFit/>
          </a:bodyPr>
          <a:lstStyle/>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The proposed system, </a:t>
            </a:r>
            <a:r>
              <a:rPr lang="en-US" sz="2000" b="1" dirty="0">
                <a:solidFill>
                  <a:schemeClr val="bg2">
                    <a:lumMod val="10000"/>
                  </a:schemeClr>
                </a:solidFill>
                <a:latin typeface="Times New Roman" panose="02020603050405020304" pitchFamily="18" charset="0"/>
                <a:cs typeface="Times New Roman" panose="02020603050405020304" pitchFamily="18" charset="0"/>
              </a:rPr>
              <a:t>AI-Based Employee Management System (EMS Pro)</a:t>
            </a:r>
            <a:r>
              <a:rPr lang="en-US" sz="2000" dirty="0">
                <a:solidFill>
                  <a:schemeClr val="bg2">
                    <a:lumMod val="10000"/>
                  </a:schemeClr>
                </a:solidFill>
                <a:latin typeface="Times New Roman" panose="02020603050405020304" pitchFamily="18" charset="0"/>
                <a:cs typeface="Times New Roman" panose="02020603050405020304" pitchFamily="18" charset="0"/>
              </a:rPr>
              <a:t>, is a </a:t>
            </a:r>
          </a:p>
          <a:p>
            <a:pPr algn="just">
              <a:buNone/>
            </a:pPr>
            <a:r>
              <a:rPr lang="en-US" sz="2000" b="1" dirty="0">
                <a:solidFill>
                  <a:schemeClr val="bg2">
                    <a:lumMod val="10000"/>
                  </a:schemeClr>
                </a:solidFill>
                <a:latin typeface="Times New Roman" panose="02020603050405020304" pitchFamily="18" charset="0"/>
                <a:cs typeface="Times New Roman" panose="02020603050405020304" pitchFamily="18" charset="0"/>
              </a:rPr>
              <a:t>web-based enterprise HR automation platform</a:t>
            </a:r>
            <a:r>
              <a:rPr lang="en-US" sz="2000" dirty="0">
                <a:solidFill>
                  <a:schemeClr val="bg2">
                    <a:lumMod val="10000"/>
                  </a:schemeClr>
                </a:solidFill>
                <a:latin typeface="Times New Roman" panose="02020603050405020304" pitchFamily="18" charset="0"/>
                <a:cs typeface="Times New Roman" panose="02020603050405020304" pitchFamily="18" charset="0"/>
              </a:rPr>
              <a:t> designed to overcome the limitations of traditional systems  </a:t>
            </a: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It introduces </a:t>
            </a:r>
            <a:r>
              <a:rPr lang="en-US" sz="2000" b="1" dirty="0">
                <a:solidFill>
                  <a:schemeClr val="bg2">
                    <a:lumMod val="10000"/>
                  </a:schemeClr>
                </a:solidFill>
                <a:latin typeface="Times New Roman" panose="02020603050405020304" pitchFamily="18" charset="0"/>
                <a:cs typeface="Times New Roman" panose="02020603050405020304" pitchFamily="18" charset="0"/>
              </a:rPr>
              <a:t>AI-driven automation, intelligent chatbot interaction, and advanced data analytics</a:t>
            </a: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 to improve organizational efficiency.</a:t>
            </a:r>
          </a:p>
          <a:p>
            <a:pPr marL="285750" indent="-285750" algn="just">
              <a:buFont typeface="Wingdings" panose="05000000000000000000" pitchFamily="2" charset="2"/>
              <a:buChar char="q"/>
            </a:pPr>
            <a:r>
              <a:rPr lang="en-US" sz="2000" dirty="0">
                <a:solidFill>
                  <a:schemeClr val="bg2">
                    <a:lumMod val="10000"/>
                  </a:schemeClr>
                </a:solidFill>
                <a:latin typeface="Times New Roman" panose="02020603050405020304" pitchFamily="18" charset="0"/>
                <a:cs typeface="Times New Roman" panose="02020603050405020304" pitchFamily="18" charset="0"/>
              </a:rPr>
              <a:t>Integration of an AI-powered</a:t>
            </a:r>
            <a:r>
              <a:rPr lang="en-US" sz="2000" b="1" dirty="0">
                <a:solidFill>
                  <a:schemeClr val="bg2">
                    <a:lumMod val="10000"/>
                  </a:schemeClr>
                </a:solidFill>
                <a:latin typeface="Times New Roman" panose="02020603050405020304" pitchFamily="18" charset="0"/>
                <a:cs typeface="Times New Roman" panose="02020603050405020304" pitchFamily="18" charset="0"/>
              </a:rPr>
              <a:t> chatbot</a:t>
            </a:r>
            <a:r>
              <a:rPr lang="en-US" sz="2000" dirty="0">
                <a:solidFill>
                  <a:schemeClr val="bg2">
                    <a:lumMod val="10000"/>
                  </a:schemeClr>
                </a:solidFill>
                <a:latin typeface="Times New Roman" panose="02020603050405020304" pitchFamily="18" charset="0"/>
                <a:cs typeface="Times New Roman" panose="02020603050405020304" pitchFamily="18" charset="0"/>
              </a:rPr>
              <a:t> for employee assistance and </a:t>
            </a:r>
            <a:r>
              <a:rPr lang="en-US" sz="2000" b="1" dirty="0">
                <a:solidFill>
                  <a:schemeClr val="bg2">
                    <a:lumMod val="10000"/>
                  </a:schemeClr>
                </a:solidFill>
                <a:latin typeface="Times New Roman" panose="02020603050405020304" pitchFamily="18" charset="0"/>
                <a:cs typeface="Times New Roman" panose="02020603050405020304" pitchFamily="18" charset="0"/>
              </a:rPr>
              <a:t>automatic letter generation</a:t>
            </a: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000" dirty="0">
                <a:solidFill>
                  <a:schemeClr val="bg2">
                    <a:lumMod val="10000"/>
                  </a:schemeClr>
                </a:solidFill>
                <a:latin typeface="Times New Roman" panose="02020603050405020304" pitchFamily="18" charset="0"/>
                <a:cs typeface="Times New Roman" panose="02020603050405020304" pitchFamily="18" charset="0"/>
              </a:rPr>
              <a:t>Smart </a:t>
            </a:r>
            <a:r>
              <a:rPr lang="en-US" sz="2000" b="1" dirty="0">
                <a:solidFill>
                  <a:schemeClr val="bg2">
                    <a:lumMod val="10000"/>
                  </a:schemeClr>
                </a:solidFill>
                <a:latin typeface="Times New Roman" panose="02020603050405020304" pitchFamily="18" charset="0"/>
                <a:cs typeface="Times New Roman" panose="02020603050405020304" pitchFamily="18" charset="0"/>
              </a:rPr>
              <a:t>CSV-based attendance and department analytics</a:t>
            </a: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000" dirty="0">
                <a:solidFill>
                  <a:schemeClr val="bg2">
                    <a:lumMod val="10000"/>
                  </a:schemeClr>
                </a:solidFill>
                <a:latin typeface="Times New Roman" panose="02020603050405020304" pitchFamily="18" charset="0"/>
                <a:cs typeface="Times New Roman" panose="02020603050405020304" pitchFamily="18" charset="0"/>
              </a:rPr>
              <a:t>Interactive </a:t>
            </a:r>
            <a:r>
              <a:rPr lang="en-US" sz="2000" b="1" dirty="0">
                <a:solidFill>
                  <a:schemeClr val="bg2">
                    <a:lumMod val="10000"/>
                  </a:schemeClr>
                </a:solidFill>
                <a:latin typeface="Times New Roman" panose="02020603050405020304" pitchFamily="18" charset="0"/>
                <a:cs typeface="Times New Roman" panose="02020603050405020304" pitchFamily="18" charset="0"/>
              </a:rPr>
              <a:t>real-time dashboard</a:t>
            </a:r>
            <a:r>
              <a:rPr lang="en-US" sz="2000" dirty="0">
                <a:solidFill>
                  <a:schemeClr val="bg2">
                    <a:lumMod val="10000"/>
                  </a:schemeClr>
                </a:solidFill>
                <a:latin typeface="Times New Roman" panose="02020603050405020304" pitchFamily="18" charset="0"/>
                <a:cs typeface="Times New Roman" panose="02020603050405020304" pitchFamily="18" charset="0"/>
              </a:rPr>
              <a:t> for administrators</a:t>
            </a:r>
          </a:p>
          <a:p>
            <a:pPr marL="285750" indent="-285750" algn="just">
              <a:buFont typeface="Wingdings" panose="05000000000000000000" pitchFamily="2" charset="2"/>
              <a:buChar char="q"/>
            </a:pPr>
            <a:r>
              <a:rPr lang="en-US" sz="2000" dirty="0">
                <a:solidFill>
                  <a:schemeClr val="bg2">
                    <a:lumMod val="10000"/>
                  </a:schemeClr>
                </a:solidFill>
                <a:latin typeface="Times New Roman" panose="02020603050405020304" pitchFamily="18" charset="0"/>
                <a:cs typeface="Times New Roman" panose="02020603050405020304" pitchFamily="18" charset="0"/>
              </a:rPr>
              <a:t>Secure </a:t>
            </a:r>
            <a:r>
              <a:rPr lang="en-US" sz="2000" b="1" dirty="0">
                <a:solidFill>
                  <a:schemeClr val="bg2">
                    <a:lumMod val="10000"/>
                  </a:schemeClr>
                </a:solidFill>
                <a:latin typeface="Times New Roman" panose="02020603050405020304" pitchFamily="18" charset="0"/>
                <a:cs typeface="Times New Roman" panose="02020603050405020304" pitchFamily="18" charset="0"/>
              </a:rPr>
              <a:t>role-based authentication system</a:t>
            </a: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000" dirty="0">
                <a:solidFill>
                  <a:schemeClr val="bg2">
                    <a:lumMod val="10000"/>
                  </a:schemeClr>
                </a:solidFill>
                <a:latin typeface="Times New Roman" panose="02020603050405020304" pitchFamily="18" charset="0"/>
                <a:cs typeface="Times New Roman" panose="02020603050405020304" pitchFamily="18" charset="0"/>
              </a:rPr>
              <a:t>Centralized employee data management</a:t>
            </a:r>
          </a:p>
          <a:p>
            <a:pPr marL="285750" indent="-285750" algn="just">
              <a:buFont typeface="Wingdings" panose="05000000000000000000" pitchFamily="2" charset="2"/>
              <a:buChar char="q"/>
            </a:pP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The proposed system ensures </a:t>
            </a:r>
            <a:r>
              <a:rPr lang="en-US" sz="2000" b="1" dirty="0">
                <a:solidFill>
                  <a:schemeClr val="bg2">
                    <a:lumMod val="10000"/>
                  </a:schemeClr>
                </a:solidFill>
                <a:latin typeface="Times New Roman" panose="02020603050405020304" pitchFamily="18" charset="0"/>
                <a:cs typeface="Times New Roman" panose="02020603050405020304" pitchFamily="18" charset="0"/>
              </a:rPr>
              <a:t>automation, transparency, accuracy, and data-driven </a:t>
            </a:r>
          </a:p>
          <a:p>
            <a:pPr algn="just">
              <a:buNone/>
            </a:pPr>
            <a:r>
              <a:rPr lang="en-US" sz="2000" b="1" dirty="0">
                <a:solidFill>
                  <a:schemeClr val="bg2">
                    <a:lumMod val="10000"/>
                  </a:schemeClr>
                </a:solidFill>
                <a:latin typeface="Times New Roman" panose="02020603050405020304" pitchFamily="18" charset="0"/>
                <a:cs typeface="Times New Roman" panose="02020603050405020304" pitchFamily="18" charset="0"/>
              </a:rPr>
              <a:t>decision-making</a:t>
            </a:r>
            <a:r>
              <a:rPr lang="en-US" sz="2000" dirty="0">
                <a:solidFill>
                  <a:schemeClr val="bg2">
                    <a:lumMod val="10000"/>
                  </a:schemeClr>
                </a:solidFill>
                <a:latin typeface="Times New Roman" panose="02020603050405020304" pitchFamily="18" charset="0"/>
                <a:cs typeface="Times New Roman" panose="02020603050405020304" pitchFamily="18" charset="0"/>
              </a:rPr>
              <a:t> in workforce management.</a:t>
            </a:r>
          </a:p>
        </p:txBody>
      </p:sp>
    </p:spTree>
    <p:extLst>
      <p:ext uri="{BB962C8B-B14F-4D97-AF65-F5344CB8AC3E}">
        <p14:creationId xmlns:p14="http://schemas.microsoft.com/office/powerpoint/2010/main" val="258599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6D434-F103-4864-FC33-4A2AB7BD80D9}"/>
              </a:ext>
            </a:extLst>
          </p:cNvPr>
          <p:cNvSpPr>
            <a:spLocks noGrp="1"/>
          </p:cNvSpPr>
          <p:nvPr>
            <p:ph type="title"/>
          </p:nvPr>
        </p:nvSpPr>
        <p:spPr/>
        <p:txBody>
          <a:bodyPr/>
          <a:lstStyle/>
          <a:p>
            <a:pPr algn="ctr"/>
            <a:r>
              <a:rPr lang="en-US" dirty="0"/>
              <a:t>EXISTING SYSTEM</a:t>
            </a:r>
            <a:endParaRPr lang="en-IN" dirty="0"/>
          </a:p>
        </p:txBody>
      </p:sp>
      <p:sp>
        <p:nvSpPr>
          <p:cNvPr id="6" name="TextBox 5">
            <a:extLst>
              <a:ext uri="{FF2B5EF4-FFF2-40B4-BE49-F238E27FC236}">
                <a16:creationId xmlns:a16="http://schemas.microsoft.com/office/drawing/2014/main" id="{A0319A55-5D58-04B5-F6CB-70EE4ABF2300}"/>
              </a:ext>
            </a:extLst>
          </p:cNvPr>
          <p:cNvSpPr txBox="1"/>
          <p:nvPr/>
        </p:nvSpPr>
        <p:spPr>
          <a:xfrm>
            <a:off x="532738" y="1407974"/>
            <a:ext cx="10557344" cy="3416320"/>
          </a:xfrm>
          <a:prstGeom prst="rect">
            <a:avLst/>
          </a:prstGeom>
          <a:noFill/>
        </p:spPr>
        <p:txBody>
          <a:bodyPr wrap="square">
            <a:spAutoFit/>
          </a:bodyPr>
          <a:lstStyle/>
          <a:p>
            <a:r>
              <a:rPr lang="en-US" b="1" dirty="0"/>
              <a:t>Existing System:</a:t>
            </a:r>
            <a:br>
              <a:rPr lang="en-US" dirty="0"/>
            </a:br>
            <a:r>
              <a:rPr lang="en-US" dirty="0"/>
              <a:t>The existing employee management systems are mostly based on manual processes or basic digital tools such as spreadsheets and standalone applications. These systems require </a:t>
            </a:r>
          </a:p>
          <a:p>
            <a:r>
              <a:rPr lang="en-US" dirty="0"/>
              <a:t>personnel to manually handle tasks like employee data entry, attendance tracking, payroll processing, and performance evaluation. This not only consumes a lot of time but also increases the chances of human errors, data inconsistency, and duplication.</a:t>
            </a:r>
          </a:p>
          <a:p>
            <a:pPr>
              <a:buNone/>
            </a:pPr>
            <a:r>
              <a:rPr lang="en-US" dirty="0"/>
              <a:t>In addition, traditional systems lack advanced automation and intelligence. They do not provide real-time analytics, predictive insights, or data-driven decision-making support. There is no integration of AI technologies such as chatbots for employee assistance or natural language processing for feedback analysis. Most systems also lack centralized data management, scalability, and multilingual support, making them less effective for growing organizations. As a result, these limitations lead to reduced efficiency, poor employee engagement, and difficulty in managing workforce operations effectively.</a:t>
            </a:r>
          </a:p>
        </p:txBody>
      </p:sp>
    </p:spTree>
    <p:extLst>
      <p:ext uri="{BB962C8B-B14F-4D97-AF65-F5344CB8AC3E}">
        <p14:creationId xmlns:p14="http://schemas.microsoft.com/office/powerpoint/2010/main" val="1461263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E1B9C-E06D-1F23-576F-3AA80D14A079}"/>
              </a:ext>
            </a:extLst>
          </p:cNvPr>
          <p:cNvSpPr>
            <a:spLocks noGrp="1"/>
          </p:cNvSpPr>
          <p:nvPr>
            <p:ph type="title"/>
          </p:nvPr>
        </p:nvSpPr>
        <p:spPr/>
        <p:txBody>
          <a:bodyPr/>
          <a:lstStyle/>
          <a:p>
            <a:r>
              <a:rPr lang="en-US" dirty="0"/>
              <a:t>DATA FLOW DIAGRAM</a:t>
            </a:r>
            <a:endParaRPr lang="en-IN" dirty="0"/>
          </a:p>
        </p:txBody>
      </p:sp>
      <p:sp>
        <p:nvSpPr>
          <p:cNvPr id="6" name="AutoShape 8">
            <a:extLst>
              <a:ext uri="{FF2B5EF4-FFF2-40B4-BE49-F238E27FC236}">
                <a16:creationId xmlns:a16="http://schemas.microsoft.com/office/drawing/2014/main" id="{9E9B4FDB-DD8B-87DA-17ED-0F5DCA402C3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25873560-3AF2-FB7E-552E-BAEFF124307A}"/>
              </a:ext>
            </a:extLst>
          </p:cNvPr>
          <p:cNvPicPr>
            <a:picLocks noChangeAspect="1"/>
          </p:cNvPicPr>
          <p:nvPr/>
        </p:nvPicPr>
        <p:blipFill>
          <a:blip r:embed="rId2"/>
          <a:stretch>
            <a:fillRect/>
          </a:stretch>
        </p:blipFill>
        <p:spPr>
          <a:xfrm>
            <a:off x="1041621" y="1439186"/>
            <a:ext cx="9994790" cy="4885414"/>
          </a:xfrm>
          <a:prstGeom prst="rect">
            <a:avLst/>
          </a:prstGeom>
        </p:spPr>
      </p:pic>
    </p:spTree>
    <p:extLst>
      <p:ext uri="{BB962C8B-B14F-4D97-AF65-F5344CB8AC3E}">
        <p14:creationId xmlns:p14="http://schemas.microsoft.com/office/powerpoint/2010/main" val="3695505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6E9FB-4564-3FD7-1881-8487BF121229}"/>
              </a:ext>
            </a:extLst>
          </p:cNvPr>
          <p:cNvSpPr>
            <a:spLocks noGrp="1"/>
          </p:cNvSpPr>
          <p:nvPr>
            <p:ph type="title"/>
          </p:nvPr>
        </p:nvSpPr>
        <p:spPr/>
        <p:txBody>
          <a:bodyPr/>
          <a:lstStyle/>
          <a:p>
            <a:r>
              <a:rPr lang="en-US" dirty="0"/>
              <a:t>SYSTEM  ARTICHITECTURE</a:t>
            </a:r>
            <a:endParaRPr lang="en-IN" dirty="0"/>
          </a:p>
        </p:txBody>
      </p:sp>
      <p:sp>
        <p:nvSpPr>
          <p:cNvPr id="9" name="AutoShape 14">
            <a:extLst>
              <a:ext uri="{FF2B5EF4-FFF2-40B4-BE49-F238E27FC236}">
                <a16:creationId xmlns:a16="http://schemas.microsoft.com/office/drawing/2014/main" id="{0601968A-5771-1D3B-566D-22DC8EB36F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16">
            <a:extLst>
              <a:ext uri="{FF2B5EF4-FFF2-40B4-BE49-F238E27FC236}">
                <a16:creationId xmlns:a16="http://schemas.microsoft.com/office/drawing/2014/main" id="{FF83D554-9DA7-C6F8-D041-08C27382CDA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68" name="Picture 20" descr="Employee Management System UML Diagram | FreeProjectz">
            <a:extLst>
              <a:ext uri="{FF2B5EF4-FFF2-40B4-BE49-F238E27FC236}">
                <a16:creationId xmlns:a16="http://schemas.microsoft.com/office/drawing/2014/main" id="{16BFB9BC-117E-7DC8-DCE7-4C1F63323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79" y="1892410"/>
            <a:ext cx="9955034" cy="4432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8631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E400C-3C2A-5D66-2829-DD21BF470340}"/>
              </a:ext>
            </a:extLst>
          </p:cNvPr>
          <p:cNvSpPr>
            <a:spLocks noGrp="1"/>
          </p:cNvSpPr>
          <p:nvPr>
            <p:ph type="title"/>
          </p:nvPr>
        </p:nvSpPr>
        <p:spPr/>
        <p:txBody>
          <a:bodyPr>
            <a:normAutofit/>
          </a:bodyPr>
          <a:lstStyle/>
          <a:p>
            <a:r>
              <a:rPr lang="en-IN" sz="3200" u="sng" dirty="0"/>
              <a:t>HARDWARE AND SOFTWARE REQURIMENT</a:t>
            </a:r>
          </a:p>
        </p:txBody>
      </p:sp>
      <p:sp>
        <p:nvSpPr>
          <p:cNvPr id="4" name="TextBox 3">
            <a:extLst>
              <a:ext uri="{FF2B5EF4-FFF2-40B4-BE49-F238E27FC236}">
                <a16:creationId xmlns:a16="http://schemas.microsoft.com/office/drawing/2014/main" id="{1D01EE2E-D396-0B2C-249B-BB6557787650}"/>
              </a:ext>
            </a:extLst>
          </p:cNvPr>
          <p:cNvSpPr txBox="1"/>
          <p:nvPr/>
        </p:nvSpPr>
        <p:spPr>
          <a:xfrm>
            <a:off x="765312" y="1351722"/>
            <a:ext cx="9809922" cy="4801314"/>
          </a:xfrm>
          <a:prstGeom prst="rect">
            <a:avLst/>
          </a:prstGeom>
          <a:noFill/>
        </p:spPr>
        <p:txBody>
          <a:bodyPr wrap="square">
            <a:spAutoFit/>
          </a:bodyPr>
          <a:lstStyle/>
          <a:p>
            <a:pPr>
              <a:buNone/>
            </a:pPr>
            <a:r>
              <a:rPr lang="en-IN" b="1" dirty="0"/>
              <a:t>Hardware Requirements</a:t>
            </a:r>
          </a:p>
          <a:p>
            <a:pPr marL="285750" indent="-285750">
              <a:buFont typeface="Wingdings" panose="05000000000000000000" pitchFamily="2" charset="2"/>
              <a:buChar char="q"/>
            </a:pPr>
            <a:r>
              <a:rPr lang="en-IN" b="1" dirty="0"/>
              <a:t>Processor:</a:t>
            </a:r>
            <a:r>
              <a:rPr lang="en-IN" dirty="0"/>
              <a:t> Intel Core i3 or higher</a:t>
            </a:r>
          </a:p>
          <a:p>
            <a:pPr marL="285750" indent="-285750">
              <a:buFont typeface="Wingdings" panose="05000000000000000000" pitchFamily="2" charset="2"/>
              <a:buChar char="q"/>
            </a:pPr>
            <a:r>
              <a:rPr lang="en-IN" b="1" dirty="0"/>
              <a:t>RAM:</a:t>
            </a:r>
            <a:r>
              <a:rPr lang="en-IN" dirty="0"/>
              <a:t> Minimum 4 GB (8 GB recommended)</a:t>
            </a:r>
          </a:p>
          <a:p>
            <a:pPr marL="285750" indent="-285750">
              <a:buFont typeface="Wingdings" panose="05000000000000000000" pitchFamily="2" charset="2"/>
              <a:buChar char="q"/>
            </a:pPr>
            <a:r>
              <a:rPr lang="en-IN" b="1" dirty="0"/>
              <a:t>Storage:</a:t>
            </a:r>
            <a:r>
              <a:rPr lang="en-IN" dirty="0"/>
              <a:t> 20 GB free disk space</a:t>
            </a:r>
          </a:p>
          <a:p>
            <a:pPr marL="285750" indent="-285750">
              <a:buFont typeface="Wingdings" panose="05000000000000000000" pitchFamily="2" charset="2"/>
              <a:buChar char="q"/>
            </a:pPr>
            <a:r>
              <a:rPr lang="en-IN" b="1" dirty="0"/>
              <a:t>System Type:</a:t>
            </a:r>
            <a:r>
              <a:rPr lang="en-IN" dirty="0"/>
              <a:t> 64-bit architecture</a:t>
            </a:r>
          </a:p>
          <a:p>
            <a:pPr marL="285750" indent="-285750">
              <a:buFont typeface="Wingdings" panose="05000000000000000000" pitchFamily="2" charset="2"/>
              <a:buChar char="q"/>
            </a:pPr>
            <a:r>
              <a:rPr lang="en-IN" b="1" dirty="0"/>
              <a:t>Internet Connection:</a:t>
            </a:r>
            <a:r>
              <a:rPr lang="en-IN" dirty="0"/>
              <a:t> Required for deployment and API integration</a:t>
            </a:r>
          </a:p>
          <a:p>
            <a:pPr>
              <a:buNone/>
            </a:pPr>
            <a:br>
              <a:rPr lang="en-IN" dirty="0"/>
            </a:br>
            <a:endParaRPr lang="en-IN" dirty="0"/>
          </a:p>
          <a:p>
            <a:pPr>
              <a:buNone/>
            </a:pPr>
            <a:r>
              <a:rPr lang="en-IN" b="1" dirty="0"/>
              <a:t>Software Requirements</a:t>
            </a:r>
          </a:p>
          <a:p>
            <a:pPr marL="285750" indent="-285750">
              <a:buFont typeface="Wingdings" panose="05000000000000000000" pitchFamily="2" charset="2"/>
              <a:buChar char="q"/>
            </a:pPr>
            <a:r>
              <a:rPr lang="en-IN" b="1" dirty="0"/>
              <a:t>Operating System:</a:t>
            </a:r>
            <a:r>
              <a:rPr lang="en-IN" dirty="0"/>
              <a:t> Windows 10/11 / Linux / macOS</a:t>
            </a:r>
          </a:p>
          <a:p>
            <a:pPr marL="285750" indent="-285750">
              <a:buFont typeface="Wingdings" panose="05000000000000000000" pitchFamily="2" charset="2"/>
              <a:buChar char="q"/>
            </a:pPr>
            <a:r>
              <a:rPr lang="en-IN" b="1" dirty="0"/>
              <a:t>Frontend:</a:t>
            </a:r>
            <a:r>
              <a:rPr lang="en-IN" dirty="0"/>
              <a:t> React.js</a:t>
            </a:r>
          </a:p>
          <a:p>
            <a:pPr marL="285750" indent="-285750">
              <a:buFont typeface="Wingdings" panose="05000000000000000000" pitchFamily="2" charset="2"/>
              <a:buChar char="q"/>
            </a:pPr>
            <a:r>
              <a:rPr lang="en-IN" b="1" dirty="0"/>
              <a:t>Backend:</a:t>
            </a:r>
            <a:r>
              <a:rPr lang="en-IN" dirty="0"/>
              <a:t> Node.js / Express (or Python Flask)</a:t>
            </a:r>
          </a:p>
          <a:p>
            <a:pPr marL="285750" indent="-285750">
              <a:buFont typeface="Wingdings" panose="05000000000000000000" pitchFamily="2" charset="2"/>
              <a:buChar char="q"/>
            </a:pPr>
            <a:r>
              <a:rPr lang="en-IN" b="1" dirty="0"/>
              <a:t>Database:</a:t>
            </a:r>
            <a:r>
              <a:rPr lang="en-IN" dirty="0"/>
              <a:t> MongoDB</a:t>
            </a:r>
          </a:p>
          <a:p>
            <a:pPr marL="285750" indent="-285750">
              <a:buFont typeface="Wingdings" panose="05000000000000000000" pitchFamily="2" charset="2"/>
              <a:buChar char="q"/>
            </a:pPr>
            <a:r>
              <a:rPr lang="en-IN" b="1" dirty="0"/>
              <a:t>Programming Languages:</a:t>
            </a:r>
            <a:r>
              <a:rPr lang="en-IN" dirty="0"/>
              <a:t> JavaScript, Python</a:t>
            </a:r>
          </a:p>
          <a:p>
            <a:pPr marL="285750" indent="-285750">
              <a:buFont typeface="Wingdings" panose="05000000000000000000" pitchFamily="2" charset="2"/>
              <a:buChar char="q"/>
            </a:pPr>
            <a:r>
              <a:rPr lang="en-IN" b="1" dirty="0"/>
              <a:t>Browser:</a:t>
            </a:r>
            <a:r>
              <a:rPr lang="en-IN" dirty="0"/>
              <a:t> Google Chrome / Microsoft Edge</a:t>
            </a:r>
          </a:p>
          <a:p>
            <a:pPr marL="285750" indent="-285750">
              <a:buFont typeface="Wingdings" panose="05000000000000000000" pitchFamily="2" charset="2"/>
              <a:buChar char="q"/>
            </a:pPr>
            <a:r>
              <a:rPr lang="en-IN" b="1" dirty="0"/>
              <a:t>Version Control:</a:t>
            </a:r>
            <a:r>
              <a:rPr lang="en-IN" dirty="0"/>
              <a:t> Git &amp; GitHub</a:t>
            </a:r>
          </a:p>
          <a:p>
            <a:pPr marL="285750" indent="-285750">
              <a:buFont typeface="Wingdings" panose="05000000000000000000" pitchFamily="2" charset="2"/>
              <a:buChar char="q"/>
            </a:pPr>
            <a:r>
              <a:rPr lang="en-IN" b="1" dirty="0"/>
              <a:t>Development Tools:</a:t>
            </a:r>
            <a:r>
              <a:rPr lang="en-IN" dirty="0"/>
              <a:t> VS Code</a:t>
            </a:r>
          </a:p>
        </p:txBody>
      </p:sp>
    </p:spTree>
    <p:extLst>
      <p:ext uri="{BB962C8B-B14F-4D97-AF65-F5344CB8AC3E}">
        <p14:creationId xmlns:p14="http://schemas.microsoft.com/office/powerpoint/2010/main" val="545766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95B3D-715E-9C75-E36C-F88AF9BCB803}"/>
              </a:ext>
            </a:extLst>
          </p:cNvPr>
          <p:cNvSpPr>
            <a:spLocks noGrp="1"/>
          </p:cNvSpPr>
          <p:nvPr>
            <p:ph type="title"/>
          </p:nvPr>
        </p:nvSpPr>
        <p:spPr/>
        <p:txBody>
          <a:bodyPr/>
          <a:lstStyle/>
          <a:p>
            <a:r>
              <a:rPr lang="en-US" dirty="0"/>
              <a:t>SCREEN SHOTS</a:t>
            </a:r>
            <a:endParaRPr lang="en-IN" dirty="0"/>
          </a:p>
        </p:txBody>
      </p:sp>
      <p:pic>
        <p:nvPicPr>
          <p:cNvPr id="8" name="Picture 7">
            <a:extLst>
              <a:ext uri="{FF2B5EF4-FFF2-40B4-BE49-F238E27FC236}">
                <a16:creationId xmlns:a16="http://schemas.microsoft.com/office/drawing/2014/main" id="{61A245CD-7474-319A-9FC3-03E66EDD7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415" y="1639019"/>
            <a:ext cx="3404559" cy="4685581"/>
          </a:xfrm>
          <a:prstGeom prst="rect">
            <a:avLst/>
          </a:prstGeom>
        </p:spPr>
      </p:pic>
      <p:pic>
        <p:nvPicPr>
          <p:cNvPr id="10" name="Picture 9">
            <a:extLst>
              <a:ext uri="{FF2B5EF4-FFF2-40B4-BE49-F238E27FC236}">
                <a16:creationId xmlns:a16="http://schemas.microsoft.com/office/drawing/2014/main" id="{32CABFE0-C1E9-D2BC-A6CB-1125D48EE8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7199" y="1899344"/>
            <a:ext cx="8201284" cy="4164929"/>
          </a:xfrm>
          <a:prstGeom prst="rect">
            <a:avLst/>
          </a:prstGeom>
        </p:spPr>
      </p:pic>
    </p:spTree>
    <p:extLst>
      <p:ext uri="{BB962C8B-B14F-4D97-AF65-F5344CB8AC3E}">
        <p14:creationId xmlns:p14="http://schemas.microsoft.com/office/powerpoint/2010/main" val="3769571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DC4-130D-B338-13D5-6CBA554ED230}"/>
              </a:ext>
            </a:extLst>
          </p:cNvPr>
          <p:cNvSpPr>
            <a:spLocks noGrp="1"/>
          </p:cNvSpPr>
          <p:nvPr>
            <p:ph type="title"/>
          </p:nvPr>
        </p:nvSpPr>
        <p:spPr>
          <a:xfrm>
            <a:off x="609600" y="422694"/>
            <a:ext cx="10972800" cy="923027"/>
          </a:xfrm>
        </p:spPr>
        <p:txBody>
          <a:bodyPr/>
          <a:lstStyle/>
          <a:p>
            <a:r>
              <a:rPr lang="en-IN" dirty="0"/>
              <a:t>SCREEN SHOTS</a:t>
            </a:r>
          </a:p>
        </p:txBody>
      </p:sp>
      <p:pic>
        <p:nvPicPr>
          <p:cNvPr id="10" name="Picture 9">
            <a:extLst>
              <a:ext uri="{FF2B5EF4-FFF2-40B4-BE49-F238E27FC236}">
                <a16:creationId xmlns:a16="http://schemas.microsoft.com/office/drawing/2014/main" id="{1F923376-5A9F-26E0-BDEA-235033364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4191" y="1473751"/>
            <a:ext cx="8915989" cy="4961555"/>
          </a:xfrm>
          <a:prstGeom prst="rect">
            <a:avLst/>
          </a:prstGeom>
        </p:spPr>
      </p:pic>
    </p:spTree>
    <p:extLst>
      <p:ext uri="{BB962C8B-B14F-4D97-AF65-F5344CB8AC3E}">
        <p14:creationId xmlns:p14="http://schemas.microsoft.com/office/powerpoint/2010/main" val="2095859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2CDD2-BDA3-0170-7695-6BC7B96ADE86}"/>
              </a:ext>
            </a:extLst>
          </p:cNvPr>
          <p:cNvSpPr>
            <a:spLocks noGrp="1"/>
          </p:cNvSpPr>
          <p:nvPr>
            <p:ph type="title"/>
          </p:nvPr>
        </p:nvSpPr>
        <p:spPr/>
        <p:txBody>
          <a:bodyPr/>
          <a:lstStyle/>
          <a:p>
            <a:r>
              <a:rPr lang="en-IN" u="sng" dirty="0"/>
              <a:t>CONCULSION</a:t>
            </a:r>
          </a:p>
        </p:txBody>
      </p:sp>
      <p:sp>
        <p:nvSpPr>
          <p:cNvPr id="4" name="TextBox 3">
            <a:extLst>
              <a:ext uri="{FF2B5EF4-FFF2-40B4-BE49-F238E27FC236}">
                <a16:creationId xmlns:a16="http://schemas.microsoft.com/office/drawing/2014/main" id="{C44CF5C1-5CB2-DFB6-5148-5C5624D377DE}"/>
              </a:ext>
            </a:extLst>
          </p:cNvPr>
          <p:cNvSpPr txBox="1"/>
          <p:nvPr/>
        </p:nvSpPr>
        <p:spPr>
          <a:xfrm>
            <a:off x="609600" y="2047462"/>
            <a:ext cx="10114722" cy="4524315"/>
          </a:xfrm>
          <a:prstGeom prst="rect">
            <a:avLst/>
          </a:prstGeom>
          <a:noFill/>
        </p:spPr>
        <p:txBody>
          <a:bodyPr wrap="square">
            <a:spAutoFit/>
          </a:bodyPr>
          <a:lstStyle/>
          <a:p>
            <a:pPr marL="285750" indent="-285750" algn="just">
              <a:buFont typeface="Wingdings" panose="05000000000000000000" pitchFamily="2" charset="2"/>
              <a:buChar char="v"/>
            </a:pPr>
            <a:r>
              <a:rPr lang="en-US" dirty="0"/>
              <a:t>The </a:t>
            </a:r>
            <a:r>
              <a:rPr lang="en-US" b="1" dirty="0"/>
              <a:t>AI-Based Employee Management System (EMS Pro)</a:t>
            </a:r>
            <a:r>
              <a:rPr lang="en-US" dirty="0"/>
              <a:t> is a comprehensive and scalable HR automation platform designed to modernize traditional workforce management.</a:t>
            </a:r>
          </a:p>
          <a:p>
            <a:pPr marL="285750" indent="-285750" algn="just">
              <a:buFont typeface="Wingdings" panose="05000000000000000000" pitchFamily="2" charset="2"/>
              <a:buChar char="v"/>
            </a:pPr>
            <a:endParaRPr lang="en-US" dirty="0"/>
          </a:p>
          <a:p>
            <a:pPr marL="285750" indent="-285750" algn="just">
              <a:buFont typeface="Wingdings" panose="05000000000000000000" pitchFamily="2" charset="2"/>
              <a:buChar char="v"/>
            </a:pPr>
            <a:r>
              <a:rPr lang="en-US" dirty="0"/>
              <a:t>It integrates an </a:t>
            </a:r>
            <a:r>
              <a:rPr lang="en-US" b="1" dirty="0"/>
              <a:t>AI-powered chatbot</a:t>
            </a:r>
            <a:r>
              <a:rPr lang="en-US" dirty="0"/>
              <a:t> for intelligent employee interaction and automatic letter generation.</a:t>
            </a:r>
          </a:p>
          <a:p>
            <a:pPr marL="285750" indent="-285750" algn="just">
              <a:buFont typeface="Wingdings" panose="05000000000000000000" pitchFamily="2" charset="2"/>
              <a:buChar char="v"/>
            </a:pPr>
            <a:endParaRPr lang="en-US" dirty="0"/>
          </a:p>
          <a:p>
            <a:pPr marL="285750" indent="-285750" algn="just">
              <a:buFont typeface="Wingdings" panose="05000000000000000000" pitchFamily="2" charset="2"/>
              <a:buChar char="v"/>
            </a:pPr>
            <a:r>
              <a:rPr lang="en-US" dirty="0"/>
              <a:t>The system enables administrators to perform </a:t>
            </a:r>
            <a:r>
              <a:rPr lang="en-US" b="1" dirty="0"/>
              <a:t>CSV-based attendance analysis</a:t>
            </a:r>
            <a:r>
              <a:rPr lang="en-US" dirty="0"/>
              <a:t> and monitor department performance through </a:t>
            </a:r>
            <a:r>
              <a:rPr lang="en-US" b="1" dirty="0"/>
              <a:t>real-time dashboards</a:t>
            </a:r>
            <a:r>
              <a:rPr lang="en-US" dirty="0"/>
              <a:t>.</a:t>
            </a:r>
          </a:p>
          <a:p>
            <a:pPr marL="285750" indent="-285750" algn="just">
              <a:buFont typeface="Wingdings" panose="05000000000000000000" pitchFamily="2" charset="2"/>
              <a:buChar char="v"/>
            </a:pPr>
            <a:endParaRPr lang="en-US" dirty="0"/>
          </a:p>
          <a:p>
            <a:pPr marL="285750" indent="-285750" algn="just">
              <a:buFont typeface="Wingdings" panose="05000000000000000000" pitchFamily="2" charset="2"/>
              <a:buChar char="v"/>
            </a:pPr>
            <a:r>
              <a:rPr lang="en-US" dirty="0"/>
              <a:t>With secure </a:t>
            </a:r>
            <a:r>
              <a:rPr lang="en-US" b="1" dirty="0"/>
              <a:t>role-based authentication</a:t>
            </a:r>
            <a:r>
              <a:rPr lang="en-US" dirty="0"/>
              <a:t>, it ensures data protection and controlled access.</a:t>
            </a:r>
          </a:p>
          <a:p>
            <a:pPr marL="285750" indent="-285750" algn="just">
              <a:buFont typeface="Wingdings" panose="05000000000000000000" pitchFamily="2" charset="2"/>
              <a:buChar char="v"/>
            </a:pPr>
            <a:endParaRPr lang="en-US" dirty="0"/>
          </a:p>
          <a:p>
            <a:pPr marL="285750" indent="-285750" algn="just">
              <a:buFont typeface="Wingdings" panose="05000000000000000000" pitchFamily="2" charset="2"/>
              <a:buChar char="v"/>
            </a:pPr>
            <a:r>
              <a:rPr lang="en-US" dirty="0"/>
              <a:t>The inclusion of </a:t>
            </a:r>
            <a:r>
              <a:rPr lang="en-US" b="1" dirty="0"/>
              <a:t>25+ multilingual support</a:t>
            </a:r>
            <a:r>
              <a:rPr lang="en-US" dirty="0"/>
              <a:t> enhances accessibility for regional and global users.</a:t>
            </a:r>
          </a:p>
          <a:p>
            <a:pPr marL="285750" indent="-285750" algn="just">
              <a:buFont typeface="Wingdings" panose="05000000000000000000" pitchFamily="2" charset="2"/>
              <a:buChar char="v"/>
            </a:pPr>
            <a:endParaRPr lang="en-US" dirty="0"/>
          </a:p>
          <a:p>
            <a:pPr marL="285750" indent="-285750" algn="just">
              <a:buFont typeface="Wingdings" panose="05000000000000000000" pitchFamily="2" charset="2"/>
              <a:buChar char="v"/>
            </a:pPr>
            <a:r>
              <a:rPr lang="en-US" dirty="0"/>
              <a:t>Overall, EMS Pro improves </a:t>
            </a:r>
            <a:r>
              <a:rPr lang="en-US" b="1" dirty="0"/>
              <a:t>efficiency, transparency, and data-driven decision-making</a:t>
            </a:r>
            <a:r>
              <a:rPr lang="en-US" dirty="0"/>
              <a:t>, making it an enterprise-ready HR solution.</a:t>
            </a:r>
          </a:p>
        </p:txBody>
      </p:sp>
    </p:spTree>
    <p:extLst>
      <p:ext uri="{BB962C8B-B14F-4D97-AF65-F5344CB8AC3E}">
        <p14:creationId xmlns:p14="http://schemas.microsoft.com/office/powerpoint/2010/main" val="883073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93E-9CCE-4C44-9E3C-FD98DFA0D334}"/>
              </a:ext>
            </a:extLst>
          </p:cNvPr>
          <p:cNvSpPr>
            <a:spLocks noGrp="1"/>
          </p:cNvSpPr>
          <p:nvPr>
            <p:ph type="title"/>
          </p:nvPr>
        </p:nvSpPr>
        <p:spPr>
          <a:xfrm>
            <a:off x="684212" y="275208"/>
            <a:ext cx="11140844" cy="6098959"/>
          </a:xfrm>
        </p:spPr>
        <p:txBody>
          <a:bodyPr>
            <a:normAutofit/>
          </a:bodyPr>
          <a:lstStyle/>
          <a:p>
            <a:pPr algn="ctr"/>
            <a:r>
              <a:rPr lang="en-US" sz="2800" b="1" dirty="0">
                <a:solidFill>
                  <a:schemeClr val="tx1"/>
                </a:solidFill>
                <a:latin typeface="Calibri" panose="020F0502020204030204" pitchFamily="34" charset="0"/>
                <a:cs typeface="Calibri" panose="020F0502020204030204" pitchFamily="34" charset="0"/>
              </a:rPr>
              <a:t>THANK YOU</a:t>
            </a:r>
            <a:endParaRPr lang="en-IN" sz="28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2912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522</TotalTime>
  <Words>1122</Words>
  <Application>Microsoft Office PowerPoint</Application>
  <PresentationFormat>Widescreen</PresentationFormat>
  <Paragraphs>129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Clarity</vt:lpstr>
      <vt:lpstr>                                                                                                  Department of Computer Science &amp; Engineering               AI POWERED EMPLOYEE MANAGEMENT SYSTEM                                                                                                                                                    BATCH  NO: 02                                                                                                                                        </vt:lpstr>
      <vt:lpstr>Table of Contents</vt:lpstr>
      <vt:lpstr>ABSTRACT</vt:lpstr>
      <vt:lpstr>INTRODUCTION</vt:lpstr>
      <vt:lpstr>LIMITATION OF EXISTING SYSTEM</vt:lpstr>
      <vt:lpstr>LITERATURE SURVEY</vt:lpstr>
      <vt:lpstr>PROPOSED SYSTEM</vt:lpstr>
      <vt:lpstr>EXISTING SYSTEM</vt:lpstr>
      <vt:lpstr>DATA FLOW DIAGRAM</vt:lpstr>
      <vt:lpstr>SYSTEM  ARTICHITECTURE</vt:lpstr>
      <vt:lpstr>HARDWARE AND SOFTWARE REQURIMENT</vt:lpstr>
      <vt:lpstr>SCREEN SHOTS</vt:lpstr>
      <vt:lpstr>SCREEN SHOTS</vt:lpstr>
      <vt:lpstr>CONCULSION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TALLA PADMAVATHI COLLEGE OF Engineering                       SOMIDI, KAZIPET, WARANGAL.       Department of electronics and communication engineering   Research area : VLSI                             Specific area of research: LOW POWER VLSIDESIGN     Proposed title name of the project:                    AN APC-COM BASED LUT OPTIMIZATION FOR DSP APPLICATIONS                                                                                                                                                           Batch no.1                                                                                                                                                                  1. 18UC1A0420 (N.Sravani)                                                                                                                                                                  2.18UC1A0401 (A.Swapna)                                                                                                                                3.18UC1A0428 (T.Satvika)                                                                                                                                                               4.17UC1A0405(E.Mahesh)</dc:title>
  <dc:creator>sravani neelam</dc:creator>
  <cp:lastModifiedBy>kavyareddyboja@gmail.com</cp:lastModifiedBy>
  <cp:revision>46</cp:revision>
  <dcterms:created xsi:type="dcterms:W3CDTF">2021-11-21T08:56:41Z</dcterms:created>
  <dcterms:modified xsi:type="dcterms:W3CDTF">2026-07-17T04:50:03Z</dcterms:modified>
</cp:coreProperties>
</file>